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4864" cy="4114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PulseLink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ABC9C"/>
                </a:solidFill>
                <a:latin typeface="Segoe UI"/>
              </a:defRPr>
            </a:pPr>
            <a:r>
              <a:t>The Blood Subscription for Thalassemia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Segoe UI"/>
              </a:defRPr>
            </a:pPr>
            <a:r>
              <a:t>An autonomous, AI-powered blood support network that coordinates requests,</a:t>
            </a:r>
            <a:br/>
            <a:r>
              <a:t>engages the right donors, and manages interactions in real time</a:t>
            </a:r>
            <a:br/>
            <a:r>
              <a:t>with minimal manual effort.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292608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309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 for Good 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 Semibold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Why Thalassemia Blood Management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51760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Manual Coordination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Segoe UI"/>
              </a:defRPr>
            </a:pPr>
            <a:r>
              <a:t>Coordinators chase donors via</a:t>
            </a:r>
            <a:br/>
            <a:r>
              <a:t>phone calls every 2-3 weeks</a:t>
            </a:r>
            <a:br/>
            <a:r>
              <a:t>for each patient.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651760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No Donor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Segoe UI"/>
              </a:defRPr>
            </a:pPr>
            <a:r>
              <a:t>No system tracks who declined,</a:t>
            </a:r>
            <a:br/>
            <a:r>
              <a:t>who is reliable, or who is</a:t>
            </a:r>
            <a:br/>
            <a:r>
              <a:t>available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651760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Emergency-Driven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Segoe UI"/>
              </a:defRPr>
            </a:pPr>
            <a:r>
              <a:t>Each transfusion is treated as</a:t>
            </a:r>
            <a:br/>
            <a:r>
              <a:t>a disconnected emergency</a:t>
            </a:r>
            <a:br/>
            <a:r>
              <a:t>rather than a recurring need.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651760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No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Segoe UI"/>
              </a:defRPr>
            </a:pPr>
            <a:r>
              <a:t>No prediction of when the</a:t>
            </a:r>
            <a:br/>
            <a:r>
              <a:t>next transfusion is due -</a:t>
            </a:r>
            <a:br/>
            <a:r>
              <a:t>always reactive, never proactive.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931920"/>
            <a:ext cx="2651760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Consent &amp;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572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Segoe UI"/>
              </a:defRPr>
            </a:pPr>
            <a:r>
              <a:t>Donor data handling lacks</a:t>
            </a:r>
            <a:br/>
            <a:r>
              <a:t>consent tracking and</a:t>
            </a:r>
            <a:br/>
            <a:r>
              <a:t>regulatory compliance.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931920"/>
            <a:ext cx="2651760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Scale 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572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Segoe UI"/>
              </a:defRPr>
            </a:pPr>
            <a:r>
              <a:t>~80 patients x 4900 donors</a:t>
            </a:r>
            <a:br/>
            <a:r>
              <a:t>in one city alone - impossible</a:t>
            </a:r>
            <a:br/>
            <a:r>
              <a:t>to manage manually.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Thalassemia Major patients need blood transfusions every 14-28 days for life.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the System Should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320040" cy="3200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Handle multiple workflows through a unified intelligent AI layer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Automate outreach, follow-ups, and escalations for donors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834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Track and interpret donor responses to guide next steps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474720"/>
            <a:ext cx="320040" cy="3200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290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React to real-time events and updates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069080"/>
            <a:ext cx="320040" cy="3200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233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Enable conversational interactions with memory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63440"/>
            <a:ext cx="320040" cy="3200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Self-manage improvement steps via failure learning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257800"/>
            <a:ext cx="320040" cy="3200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120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Provide admins with dashboards and insights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5852160"/>
            <a:ext cx="320040" cy="3200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806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Ensure consent-aware, responsible data usage and compliant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PulseLink: Subscription-Based Blood Logistics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8229600" cy="914400"/>
          </a:xfrm>
          <a:prstGeom prst="round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BC9C"/>
                </a:solidFill>
                <a:latin typeface="Segoe UI"/>
              </a:defRPr>
            </a:pPr>
            <a:r>
              <a:t>Core Insight: Treat recurring transfusions as a managed SUBSCRIPTION,</a:t>
            </a:r>
            <a:br/>
            <a:r>
              <a:t>not a series of disconnected emergencies. Give blood logistics a memory and a forecast.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743200"/>
            <a:ext cx="1645920" cy="25603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1645920" cy="45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926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325"/>
                </a:solidFill>
                <a:latin typeface="Segoe UI"/>
              </a:defRPr>
            </a:pPr>
            <a:r>
              <a:t>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832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EWMA forecasting predicts</a:t>
            </a:r>
            <a:br/>
            <a:r>
              <a:t>each patient's next</a:t>
            </a:r>
            <a:br/>
            <a:r>
              <a:t>transfusion window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29967" y="2743200"/>
            <a:ext cx="1645920" cy="25603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29967" y="2743200"/>
            <a:ext cx="1645920" cy="45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7127" y="2926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325"/>
                </a:solidFill>
                <a:latin typeface="Segoe UI"/>
              </a:defRPr>
            </a:pPr>
            <a:r>
              <a:t>Rank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7" y="33832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Reliability scoring (0-100)</a:t>
            </a:r>
            <a:br/>
            <a:r>
              <a:t>ranks donors by historical</a:t>
            </a:r>
            <a:br/>
            <a:r>
              <a:t>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5" y="2743200"/>
            <a:ext cx="1645920" cy="25603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85615" y="2743200"/>
            <a:ext cx="1645920" cy="45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22775" y="2926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325"/>
                </a:solidFill>
                <a:latin typeface="Segoe UI"/>
              </a:defRPr>
            </a:pPr>
            <a:r>
              <a:t>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2775" y="33832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Blood compatibility +</a:t>
            </a:r>
            <a:br/>
            <a:r>
              <a:t>geolocation + consent</a:t>
            </a:r>
            <a:br/>
            <a:r>
              <a:t>for optimal pairing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41264" y="2743200"/>
            <a:ext cx="1645920" cy="25603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41264" y="2743200"/>
            <a:ext cx="1645920" cy="45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78424" y="2926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325"/>
                </a:solidFill>
                <a:latin typeface="Segoe UI"/>
              </a:defRPr>
            </a:pPr>
            <a:r>
              <a:t>Engage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8424" y="33832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Voice IVR + WhatsApp</a:t>
            </a:r>
            <a:br/>
            <a:r>
              <a:t>auto-calls donors and</a:t>
            </a:r>
            <a:br/>
            <a:r>
              <a:t>handles responses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2743200"/>
            <a:ext cx="1645920" cy="25603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2743200"/>
            <a:ext cx="1645920" cy="45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34072" y="2926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325"/>
                </a:solidFill>
                <a:latin typeface="Segoe UI"/>
              </a:defRPr>
            </a:pPr>
            <a:r>
              <a:t>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2" y="33832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System re-scores on</a:t>
            </a:r>
            <a:br/>
            <a:r>
              <a:t>every response - gets</a:t>
            </a:r>
            <a:br/>
            <a:r>
              <a:t>smarter over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F8C8D"/>
                </a:solidFill>
                <a:latin typeface="Segoe UI"/>
              </a:defRPr>
            </a:pPr>
            <a:r>
              <a:t>Predict Window  --&gt;  Rank Donors  --&gt;  Match &amp; Assign  --&gt;  Auto-Call  --&gt;  Confirm/Promote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BC9C"/>
                </a:solidFill>
                <a:latin typeface="Segoe UI"/>
              </a:defRPr>
            </a:pPr>
            <a:r>
              <a:t>All automated. Zero manual calls needed for the happy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Architecture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8229600" cy="868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" cy="8686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BC9C"/>
                </a:solidFill>
                <a:latin typeface="Segoe UI"/>
              </a:defRPr>
            </a:pPr>
            <a:r>
              <a:t>CLIENT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Patient App  |  Donor Screen  |  Coordinator Dashboard</a:t>
            </a:r>
            <a:br/>
            <a:r>
              <a:t>(React 18 + Vite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8229600" cy="868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54864" cy="868680"/>
          </a:xfrm>
          <a:prstGeom prst="rect">
            <a:avLst/>
          </a:prstGeom>
          <a:solidFill>
            <a:srgbClr val="F3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325"/>
                </a:solidFill>
                <a:latin typeface="Segoe UI"/>
              </a:defRPr>
            </a:pPr>
            <a:r>
              <a:t>API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FastAPI + Uvicorn  |  RBAC  |  Pydantic v2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8229600" cy="868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54864" cy="86868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4C3D"/>
                </a:solidFill>
                <a:latin typeface="Segoe UI"/>
              </a:defRPr>
            </a:pPr>
            <a:r>
              <a:t>INTELLIGENCE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Forecasting Engine  |  Matching Service  |  Reliability Scoring</a:t>
            </a:r>
            <a:br/>
            <a:r>
              <a:t>Subscription Generator  |  LLM Parsing  |  Voice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8229600" cy="868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54864" cy="8686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B59B6"/>
                </a:solidFill>
                <a:latin typeface="Segoe UI"/>
              </a:defRPr>
            </a:pPr>
            <a:r>
              <a:t>MESSAGING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Twilio Voice IVR  |  WhatsApp Business API  |  Alert Templates</a:t>
            </a:r>
            <a:br/>
            <a:r>
              <a:t>Multilingual (EN, HI, TE, TA)  |  Consent-Gated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77840"/>
            <a:ext cx="8229600" cy="868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54864" cy="8686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F8C8D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97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AWS ECS Fargate  |  CloudFront CDN  |  S3  |  ALB</a:t>
            </a:r>
            <a:br/>
            <a:r>
              <a:t>Event Bus  |  Contact Encryption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CORE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Five Intelligent Microservices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8229600" cy="9144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" cy="9144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1. LLM Parsing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Converts messy WhatsApp text into structured JSON with confidence scores.</a:t>
            </a:r>
            <a:br/>
            <a:r>
              <a:t>Supports multilingual input (EN/HI/TE). Schema-validated extraction with retry.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8229600" cy="9144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54864" cy="9144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334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2. Forecasting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EWMA cadence estimation predicts next transfusion window [start, expected, end].</a:t>
            </a:r>
            <a:br/>
            <a:r>
              <a:t>Re-learns after each transfusion. Confidence grows with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8229600" cy="9144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54864" cy="9144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39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3. Donor Reliability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0-100 score from 4 weighted signals: Acceptance Ratio (40%), Call Efficiency (20%),</a:t>
            </a:r>
            <a:br/>
            <a:r>
              <a:t>Volume Factor (20%), Recency Factor (20%). Tiers: Anchor / Steady / Growing.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8229600" cy="9144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54864" cy="9144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4515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4. Subscription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Builds rolling recurring slot plans. Matches donors by compatibility + reliability.</a:t>
            </a:r>
            <a:br/>
            <a:r>
              <a:t>Auto-promotes backup on decline. Generates future-dated windows.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77840"/>
            <a:ext cx="8229600" cy="9144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54864" cy="9144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6509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5. Messaging &amp; Voice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Multilingual WhatsApp alerts + Twilio IVR voice calls. 4 alert types.</a:t>
            </a:r>
            <a:br/>
            <a:r>
              <a:t>Auto-calls next donor on decline. Consent-gated communication.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VOICE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Automated IVR Donor Call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627632"/>
            <a:ext cx="320040" cy="3200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5F5"/>
                </a:solidFill>
                <a:latin typeface="Segoe UI"/>
              </a:defRPr>
            </a:pPr>
            <a:r>
              <a:t>Coordinator clicks 'Start Call' for a patient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" y="1965960"/>
            <a:ext cx="18288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313432"/>
            <a:ext cx="320040" cy="320040"/>
          </a:xfrm>
          <a:prstGeom prst="ellipse">
            <a:avLst/>
          </a:prstGeom>
          <a:solidFill>
            <a:srgbClr val="F3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134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5F5"/>
                </a:solidFill>
                <a:latin typeface="Segoe UI"/>
              </a:defRPr>
            </a:pPr>
            <a:r>
              <a:t>Twilio places outbound call to top-ranked donor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651760"/>
            <a:ext cx="18288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2999232"/>
            <a:ext cx="320040" cy="3200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992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71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5F5"/>
                </a:solidFill>
                <a:latin typeface="Segoe UI"/>
              </a:defRPr>
            </a:pPr>
            <a:r>
              <a:t>Donor hears language menu: 1=English, 2=Hindi, 3=Telugu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" y="3337560"/>
            <a:ext cx="18288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685032"/>
            <a:ext cx="320040" cy="320040"/>
          </a:xfrm>
          <a:prstGeom prst="ellipse">
            <a:avLst/>
          </a:prstGeom>
          <a:solidFill>
            <a:srgbClr val="F3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850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5F5"/>
                </a:solidFill>
                <a:latin typeface="Segoe UI"/>
              </a:defRPr>
            </a:pPr>
            <a:r>
              <a:t>Donor hears slot offer in their language - Press 1 to Accept, 2 to Decline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" y="4023360"/>
            <a:ext cx="18288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4370832"/>
            <a:ext cx="320040" cy="3200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708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5F5"/>
                </a:solidFill>
                <a:latin typeface="Segoe UI"/>
              </a:defRPr>
            </a:pPr>
            <a:r>
              <a:t>On ACCEPT: Slot confirmed, WhatsApp sent to donor + patient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4709160"/>
            <a:ext cx="18288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5056632"/>
            <a:ext cx="320040" cy="320040"/>
          </a:xfrm>
          <a:prstGeom prst="ellipse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56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5F5"/>
                </a:solidFill>
                <a:latin typeface="Segoe UI"/>
              </a:defRPr>
            </a:pPr>
            <a:r>
              <a:t>On DECLINE: Reliability re-scored, next backup auto-promoted &amp; called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" y="5394960"/>
            <a:ext cx="18288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" y="5742432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424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715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5F5"/>
                </a:solidFill>
                <a:latin typeface="Segoe UI"/>
              </a:defRPr>
            </a:pPr>
            <a:r>
              <a:t>If ALL decline: Coordinator receives WhatsApp alert to intervene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400800"/>
            <a:ext cx="8229600" cy="365760"/>
          </a:xfrm>
          <a:prstGeom prst="round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BC9C"/>
                </a:solidFill>
                <a:latin typeface="Segoe UI"/>
              </a:defRPr>
            </a:pPr>
            <a:r>
              <a:t>Zero manual intervention in the happy path. Fully automated donor engagement.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Donor Reliability Scoring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8229600" cy="109728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Score = 0.40 x AcceptanceRatio + 0.20 x CallEfficiency + 0.20 x VolumeFactor + 0.20 x RecencyFactor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Segoe UI"/>
              </a:defRPr>
            </a:pPr>
            <a:r>
              <a:t>Each factor in [0,1] | Weighted sum x 100 = Score in [0, 100] | Clamped defensively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4023360" cy="12801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4023360" cy="45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BC9C"/>
                </a:solidFill>
                <a:latin typeface="Segoe UI"/>
              </a:defRPr>
            </a:pPr>
            <a:r>
              <a:t>Acceptance Ratio (40%)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accepted / offered</a:t>
            </a:r>
            <a:br/>
            <a:r>
              <a:t>Neutral prior of 0.5 for new donors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926080"/>
            <a:ext cx="4023360" cy="12801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2926080"/>
            <a:ext cx="4023360" cy="45720"/>
          </a:xfrm>
          <a:prstGeom prst="rect">
            <a:avLst/>
          </a:prstGeom>
          <a:solidFill>
            <a:srgbClr val="F3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Call Efficiency (20%)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429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1 / max(1, calls_to_donations_ratio)</a:t>
            </a:r>
            <a:br/>
            <a:r>
              <a:t>Fewer calls per donation = higher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4023360" cy="12801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4023360" cy="45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BC9C"/>
                </a:solidFill>
                <a:latin typeface="Segoe UI"/>
              </a:defRPr>
            </a:pPr>
            <a:r>
              <a:t>Volume Factor (20%)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min(1, donations / 10)</a:t>
            </a:r>
            <a:br/>
            <a:r>
              <a:t>Rewards repeat donors, caps at 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389120"/>
            <a:ext cx="4023360" cy="12801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4389120"/>
            <a:ext cx="4023360" cy="45720"/>
          </a:xfrm>
          <a:prstGeom prst="rect">
            <a:avLst/>
          </a:prstGeom>
          <a:solidFill>
            <a:srgbClr val="F3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Recency Factor (20%)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8920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0.5 ^ (days_since / 120)</a:t>
            </a:r>
            <a:br/>
            <a:r>
              <a:t>Exponential decay, 120-day half-life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F8C8D"/>
                </a:solidFill>
                <a:latin typeface="Segoe UI"/>
              </a:defRPr>
            </a:pPr>
            <a:r>
              <a:t>Tier Assignment:  Anchor (score &gt;= 75 &amp; acceptance &gt;= 70%)  |  Steady (score &gt;= 45)  |  Growing (&lt; 45)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Guarantee: A DECLINED response can NEVER raise the donor's score (monotonic decrease)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SELF-HEALING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Decline --&gt; Promote --&gt; Re-Score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5F5"/>
                </a:solidFill>
                <a:latin typeface="Segoe UI"/>
              </a:defRPr>
            </a:pPr>
            <a:r>
              <a:t>When a donor declines, the system autonomously handles the entire cascade: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Mark Declined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Assignment status set to DECLINED. Idempotent - duplicate events are no-ops.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" y="2670048"/>
            <a:ext cx="18288" cy="4114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3154679"/>
            <a:ext cx="365760" cy="365760"/>
          </a:xfrm>
          <a:prstGeom prst="ellipse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546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632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Re-Score Donor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2899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Event published to bus. ReliabilityRescorer recomputes score (guaranteed &lt;= prior).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3538727"/>
            <a:ext cx="18288" cy="4114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Auto-Promote 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Highest-ranked eligible backup promoted to primary (rank 0). Ranks swapped.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" y="4407408"/>
            <a:ext cx="18288" cy="4114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8640" y="4892040"/>
            <a:ext cx="365760" cy="365760"/>
          </a:xfrm>
          <a:prstGeom prst="ellipse">
            <a:avLst/>
          </a:prstGeom>
          <a:solidFill>
            <a:srgbClr val="F3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Notify Promoted Donor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66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Localized WhatsApp offer sent to newly promoted donor.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" y="5276088"/>
            <a:ext cx="18288" cy="4114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640" y="5760719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607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69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Escalate if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6035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If no eligible backup exists, coordinator receives alert to intervene.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400800"/>
            <a:ext cx="8229600" cy="36576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BC9C"/>
                </a:solidFill>
                <a:latin typeface="Segoe UI"/>
              </a:defRPr>
            </a:pPr>
            <a:r>
              <a:t>Properties: Idempotent | Event-driven | Exactly-once publish | Monotonic score decrease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Technology Choices &amp; Justification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BC9C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Python 3.11 + FastAPI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Pydantic v2 (validation)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scikit-learn (ML scoring)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Twilio Voice + WhatsApp API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SQLAlchemy 2.0 + PostgreSQL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EWMA Forecasting (custom)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Event-driven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React 18 + Vite 5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3 standalone apps (Patient/Donor/Coord)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Real-time polling (2s intervals)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Responsive vanilla CSS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Install-free donor screen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Multilingual UI support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Risk-ranked dashboard tables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8229600" cy="3657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9B6"/>
                </a:solidFill>
                <a:latin typeface="Segoe UI"/>
              </a:defRPr>
            </a:pPr>
            <a:r>
              <a:t>INFRASTRUCTURE (AWS)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ECS Fargate (serverless containers)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CloudFront CDN (4 distributions)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S3 Static Hosting (3 frontend apps)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Application Load Balancer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Amazon ECR (container registry)</a:t>
            </a:r>
          </a:p>
          <a:p>
            <a:pPr>
              <a:spcAft>
                <a:spcPts val="600"/>
              </a:spcAft>
              <a:defRPr sz="1100">
                <a:solidFill>
                  <a:srgbClr val="F5F5F5"/>
                </a:solidFill>
                <a:latin typeface="Segoe UI"/>
              </a:defRPr>
            </a:pPr>
            <a:r>
              <a:t>~$35/month estimated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MESSAGING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WhatsApp Alerts &amp; Multilingual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029200" cy="10515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" cy="10515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BC9C"/>
                </a:solidFill>
                <a:latin typeface="Segoe UI"/>
              </a:defRPr>
            </a:pPr>
            <a:r>
              <a:t>UPCOMING_REMINDER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Sent to primary donor when their window is within N days.</a:t>
            </a:r>
            <a:br/>
            <a:r>
              <a:t>Proactively reduces manual call volume.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5029200" cy="10515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54864" cy="1051560"/>
          </a:xfrm>
          <a:prstGeom prst="rect">
            <a:avLst/>
          </a:prstGeom>
          <a:solidFill>
            <a:srgbClr val="F3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DONOR_ACCEPTED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Confirmation to donor after accepting via IVR.</a:t>
            </a:r>
            <a:br/>
            <a:r>
              <a:t>Reinforces positive behavior and builds trust.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029200" cy="10515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54864" cy="10515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9B6"/>
                </a:solidFill>
                <a:latin typeface="Segoe UI"/>
              </a:defRPr>
            </a:pPr>
            <a:r>
              <a:t>PATIENT_ARRANGED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'Blood is arranged' reassurance to patient/family.</a:t>
            </a:r>
            <a:br/>
            <a:r>
              <a:t>Reduces anxiety for recurring transfusion patients.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20640"/>
            <a:ext cx="5029200" cy="10515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120640"/>
            <a:ext cx="54864" cy="105156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C3D"/>
                </a:solidFill>
                <a:latin typeface="Segoe UI"/>
              </a:defRPr>
            </a:pPr>
            <a:r>
              <a:t>DONOR_DECLINED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Polite acknowledgement to declining donor.</a:t>
            </a:r>
            <a:br/>
            <a:r>
              <a:t>Maintains long-term donor relationship &amp; engagement.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554480"/>
            <a:ext cx="292608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BC9C"/>
                </a:solidFill>
                <a:latin typeface="Segoe UI"/>
              </a:defRPr>
            </a:pPr>
            <a:r>
              <a:t>LANGUAGES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Segoe UI"/>
              </a:defRPr>
            </a:pPr>
            <a:r>
              <a:t>English (en)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Segoe UI"/>
              </a:defRPr>
            </a:pPr>
            <a:r>
              <a:t>Hindi (hi)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Segoe UI"/>
              </a:defRPr>
            </a:pPr>
            <a:r>
              <a:t>Telugu (te)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Segoe UI"/>
              </a:defRPr>
            </a:pPr>
            <a:r>
              <a:t>Tamil (ta)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325"/>
                </a:solidFill>
                <a:latin typeface="Segoe UI"/>
              </a:defRPr>
            </a:pPr>
            <a:r>
              <a:t>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Segoe UI"/>
              </a:defRPr>
            </a:pPr>
            <a:r>
              <a:t>WhatsApp Business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Segoe UI"/>
              </a:defRPr>
            </a:pPr>
            <a:r>
              <a:t>Voice IVR (DTMF)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Segoe UI"/>
              </a:defRPr>
            </a:pPr>
            <a:r>
              <a:t>SMS 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CONSENT-GATED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6126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All messages require</a:t>
            </a:r>
            <a:br/>
            <a:r>
              <a:t>active consent scope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Coordinator Dashboard - 4 Tabs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8229600" cy="1143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8229600" cy="45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BC9C"/>
                </a:solidFill>
                <a:latin typeface="Segoe UI"/>
              </a:defRPr>
            </a:pPr>
            <a:r>
              <a:t>Patients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Risk-ranked patient table (urgency x low coverage x low confidence).</a:t>
            </a:r>
            <a:br/>
            <a:r>
              <a:t>Each row has 'Start Call' and 'View' buttons. Expands inline donor panel</a:t>
            </a:r>
            <a:br/>
            <a:r>
              <a:t>showing 8 assigned donors with blood match %, reliability score, and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39"/>
            <a:ext cx="8229600" cy="1143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34639"/>
            <a:ext cx="8229600" cy="45720"/>
          </a:xfrm>
          <a:prstGeom prst="rect">
            <a:avLst/>
          </a:prstGeom>
          <a:solidFill>
            <a:srgbClr val="F3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7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325"/>
                </a:solidFill>
                <a:latin typeface="Segoe UI"/>
              </a:defRPr>
            </a:pPr>
            <a:r>
              <a:t>Call Flow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19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Live IVR session status with 2-second polling. Shows donor queue,</a:t>
            </a:r>
            <a:br/>
            <a:r>
              <a:t>current donor being called, language selected, accept/decline outcome.</a:t>
            </a:r>
            <a:br/>
            <a:r>
              <a:t>Has a 'Simulate' panel for testing without a real phone.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8229600" cy="1143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82296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  <a:latin typeface="Segoe UI"/>
              </a:defRPr>
            </a:pPr>
            <a:r>
              <a:t>WhatsApp Log Tab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All sent alerts with recipient, phone, message text, timestamp.</a:t>
            </a:r>
            <a:br/>
            <a:r>
              <a:t>'Send Reminders' button triggers proactive outreach to donors whose</a:t>
            </a:r>
            <a:br/>
            <a:r>
              <a:t>windows are approaching within N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94959"/>
            <a:ext cx="8229600" cy="1143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394959"/>
            <a:ext cx="8229600" cy="4572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8639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4C3D"/>
                </a:solidFill>
                <a:latin typeface="Segoe UI"/>
              </a:defRPr>
            </a:pPr>
            <a:r>
              <a:t>Inbox Tab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39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Incoming WhatsApp messages from new patients. LLM auto-parses them.</a:t>
            </a:r>
            <a:br/>
            <a:r>
              <a:t>Coordinator reviews parsed fields with confidence indicators and clicks</a:t>
            </a:r>
            <a:br/>
            <a:r>
              <a:t>'Add Patient to System' to onboard.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AI 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LLM-Powered Message Parsing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325"/>
                </a:solidFill>
                <a:latin typeface="Segoe UI"/>
              </a:defRPr>
            </a:pPr>
            <a:r>
              <a:t>INPUT (Messy WhatsApp Text):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3931920" cy="109728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E0AA"/>
                </a:solidFill>
                <a:latin typeface="Segoe UI"/>
              </a:defRPr>
            </a:pPr>
            <a:r>
              <a:t>"Ravi B- every 18 days last</a:t>
            </a:r>
            <a:br/>
            <a:r>
              <a:t>transfusion 24th Jan 2025</a:t>
            </a:r>
            <a:br/>
            <a:r>
              <a:t>3 units donor ph 9876543210"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BC9C"/>
                </a:solidFill>
                <a:latin typeface="Segoe UI"/>
              </a:defRPr>
            </a:pPr>
            <a:r>
              <a:t>OUTPUT (Structured JSON):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920240"/>
            <a:ext cx="3931920" cy="109728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2E0AA"/>
                </a:solidFill>
                <a:latin typeface="Segoe UI"/>
              </a:defRPr>
            </a:pPr>
            <a:r>
              <a:t>{ blood_group: "B Negative",</a:t>
            </a:r>
            <a:br/>
            <a:r>
              <a:t>  cadence_days: 18,</a:t>
            </a:r>
            <a:br/>
            <a:r>
              <a:t>  last_transfusion: "2025-01-24",</a:t>
            </a:r>
            <a:br/>
            <a:r>
              <a:t>  units: 3, confidence: 0.95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PARSING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749039"/>
            <a:ext cx="1645920" cy="1463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164592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325"/>
                </a:solidFill>
                <a:latin typeface="Segoe UI"/>
              </a:defRPr>
            </a:pPr>
            <a:r>
              <a:t>Structured LLM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5F5"/>
                </a:solidFill>
                <a:latin typeface="Segoe UI"/>
              </a:defRPr>
            </a:pPr>
            <a:r>
              <a:t>Schema-validated extraction</a:t>
            </a:r>
            <a:br/>
            <a:r>
              <a:t>temp=0, deterministic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29967" y="3749039"/>
            <a:ext cx="1645920" cy="1463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29967" y="3749039"/>
            <a:ext cx="164592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21407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325"/>
                </a:solidFill>
                <a:latin typeface="Segoe UI"/>
              </a:defRPr>
            </a:pPr>
            <a:r>
              <a:t>Defensive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7" y="42062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5F5"/>
                </a:solidFill>
                <a:latin typeface="Segoe UI"/>
              </a:defRPr>
            </a:pPr>
            <a:r>
              <a:t>Re-validate against schema</a:t>
            </a:r>
            <a:br/>
            <a:r>
              <a:t>Never trust raw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5615" y="3749039"/>
            <a:ext cx="1645920" cy="1463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85615" y="3749039"/>
            <a:ext cx="164592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77055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325"/>
                </a:solidFill>
                <a:latin typeface="Segoe UI"/>
              </a:defRPr>
            </a:pPr>
            <a:r>
              <a:t>Normalization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7055" y="42062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5F5"/>
                </a:solidFill>
                <a:latin typeface="Segoe UI"/>
              </a:defRPr>
            </a:pPr>
            <a:r>
              <a:t>Dates to ISO 8601</a:t>
            </a:r>
            <a:br/>
            <a:r>
              <a:t>Blood groups canonical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41264" y="3749039"/>
            <a:ext cx="1645920" cy="1463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41264" y="3749039"/>
            <a:ext cx="164592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32704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325"/>
                </a:solidFill>
                <a:latin typeface="Segoe UI"/>
              </a:defRPr>
            </a:pPr>
            <a:r>
              <a:t>Review Flags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2704" y="42062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5F5"/>
                </a:solidFill>
                <a:latin typeface="Segoe UI"/>
              </a:defRPr>
            </a:pPr>
            <a:r>
              <a:t>Low confidence &lt; 0.75</a:t>
            </a:r>
            <a:br/>
            <a:r>
              <a:t>Null fields flagged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3749039"/>
            <a:ext cx="1645920" cy="1463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6912" y="3749039"/>
            <a:ext cx="164592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325"/>
                </a:solidFill>
                <a:latin typeface="Segoe UI"/>
              </a:defRPr>
            </a:pPr>
            <a:r>
              <a:t>Retry on 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42062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5F5"/>
                </a:solidFill>
                <a:latin typeface="Segoe UI"/>
              </a:defRPr>
            </a:pPr>
            <a:r>
              <a:t>One retry with stricter</a:t>
            </a:r>
            <a:br/>
            <a:r>
              <a:t>prompt, then graceful fail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Segoe UI"/>
              </a:defRPr>
            </a:pPr>
            <a:r>
              <a:t>Providers: MockLlmClient (offline, regex-based) | BedrockClaudeClient (Amazon Bedrock, Claude Haiku)</a:t>
            </a:r>
            <a:br/>
            <a:r>
              <a:t>Supports: English, Hindi, Telugu mixed input | ISO dates, natural language dates, relative dates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309360"/>
            <a:ext cx="8229600" cy="36576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355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BC9C"/>
                </a:solidFill>
                <a:latin typeface="Segoe UI"/>
              </a:defRPr>
            </a:pPr>
            <a:r>
              <a:t>Privacy: Parser performs ZERO persistence. Data only saved after coordinator review &amp; consent.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Consent-Aware &amp; Responsible Data Usage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4023360" cy="13716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" cy="1371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Contact Encryption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All donor contact points encrypted with symmetric key.</a:t>
            </a:r>
            <a:br/>
            <a:r>
              <a:t>Plain text never stored in database or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554480"/>
            <a:ext cx="4023360" cy="13716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554480"/>
            <a:ext cx="54864" cy="1371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Consent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Active consent scopes tracked per donor.</a:t>
            </a:r>
            <a:br/>
            <a:r>
              <a:t>'contact_for_slots' scope required before ANY outreach.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4023360" cy="13716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54864" cy="1371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Consent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Every message channel (Voice, WhatsApp, SMS)</a:t>
            </a:r>
            <a:br/>
            <a:r>
              <a:t>checks consent BEFORE sending. No consent = no contact.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108960"/>
            <a:ext cx="4023360" cy="13716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3108960"/>
            <a:ext cx="54864" cy="1371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566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Every action logged with timestamp, actor, and context.</a:t>
            </a:r>
            <a:br/>
            <a:r>
              <a:t>Full traceability for regulatory compliance.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4023360" cy="13716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54864" cy="1371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No Persistence in Parsing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206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LLM parser never writes to DB.</a:t>
            </a:r>
            <a:br/>
            <a:r>
              <a:t>Data saved only after human coordinator review.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4663440"/>
            <a:ext cx="4023360" cy="13716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4663440"/>
            <a:ext cx="54864" cy="1371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RBAC (Role-Based Access)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51206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Coordinators, patients, and donors see</a:t>
            </a:r>
            <a:br/>
            <a:r>
              <a:t>only what they're authorized to access.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on AWS -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822960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Coordinator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BC9C"/>
                </a:solidFill>
                <a:latin typeface="Segoe UI"/>
              </a:defRPr>
            </a:pPr>
            <a:r>
              <a:t>https://dpijq2esptlq8.cloudfront.net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822960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04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Patient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042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BC9C"/>
                </a:solidFill>
                <a:latin typeface="Segoe UI"/>
              </a:defRPr>
            </a:pPr>
            <a:r>
              <a:t>https://d1c51x56ezsfgz.cloudfront.net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39"/>
            <a:ext cx="822960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4436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Donor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4436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BC9C"/>
                </a:solidFill>
                <a:latin typeface="Segoe UI"/>
              </a:defRPr>
            </a:pPr>
            <a:r>
              <a:t>https://d1ism9anjs6w7j.cloudfront.net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822960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844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Backend API / Swagger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584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BC9C"/>
                </a:solidFill>
                <a:latin typeface="Segoe UI"/>
              </a:defRPr>
            </a:pPr>
            <a:r>
              <a:t>https://d1u7u2ctmq6ryx.cloudfront.net/docs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AWS PRODUCTION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63440"/>
            <a:ext cx="8229600" cy="164592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7772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2E0AA"/>
                </a:solidFill>
                <a:latin typeface="Segoe UI"/>
              </a:defRPr>
            </a:pPr>
            <a:r>
              <a:t>Browser --&gt; CloudFront (HTTPS) --&gt; ALB (HTTP:80) --&gt; ECS Fargate Task</a:t>
            </a:r>
            <a:br/>
            <a:r>
              <a:t>                                                     (FastAPI + in-memory state)</a:t>
            </a:r>
            <a:br/>
            <a:r>
              <a:t>3 x S3 Buckets --&gt; 3 x CloudFront Distributions (Frontend Apps)</a:t>
            </a:r>
            <a:br/>
            <a:r>
              <a:t>Twilio (Voice IVR + WhatsApp) --&gt; Webhook endpoints on Fargate</a:t>
            </a:r>
            <a:br/>
            <a:r>
              <a:t>Dataset.csv baked into Docker image | 512 CPU / 1 GB 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F8C8D"/>
                </a:solidFill>
                <a:latin typeface="Segoe UI"/>
              </a:defRPr>
            </a:pPr>
            <a:r>
              <a:t>Estimated monthly cost: ~$35  |  Deployment: 4 PowerShell scripts (push, infra, frontends, HTTPS)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How PulseLink Solves Each Requirement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325"/>
                </a:solidFill>
                <a:latin typeface="Segoe UI"/>
              </a:defRPr>
            </a:pPr>
            <a:r>
              <a:t>Unified AI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087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5 microservices (Parsing, Forecasting, Scoring, Matching, Subscription) under one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804672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325"/>
                </a:solidFill>
                <a:latin typeface="Segoe UI"/>
              </a:defRPr>
            </a:pPr>
            <a:r>
              <a:t>Automate outreach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488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Voice IVR auto-calls donors; WhatsApp reminders reduce manual calls by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804672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325"/>
                </a:solidFill>
                <a:latin typeface="Segoe UI"/>
              </a:defRPr>
            </a:pPr>
            <a:r>
              <a:t>Track responses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889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Every accept/decline logged, scored, and used to improve future rankings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804672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2899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325"/>
                </a:solidFill>
                <a:latin typeface="Segoe UI"/>
              </a:defRPr>
            </a:pPr>
            <a:r>
              <a:t>Real-time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2899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Event bus publishes donor responses; 2-second polling for live 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86199"/>
            <a:ext cx="804672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325"/>
                </a:solidFill>
                <a:latin typeface="Segoe UI"/>
              </a:defRPr>
            </a:pPr>
            <a:r>
              <a:t>Conversational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0690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LLM parses inbound WhatsApp; system remembers all donor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804672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325"/>
                </a:solidFill>
                <a:latin typeface="Segoe UI"/>
              </a:defRPr>
            </a:pPr>
            <a:r>
              <a:t>Self-improvement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7091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Reliability score re-learns on every response; EWMA adapts cadence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166360"/>
            <a:ext cx="804672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492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325"/>
                </a:solidFill>
                <a:latin typeface="Segoe UI"/>
              </a:defRPr>
            </a:pPr>
            <a:r>
              <a:t>Admin dashboards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34923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4-tab coordinator dashboard with risk ranking, call flow, alerts, inbox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06439"/>
            <a:ext cx="804672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989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325"/>
                </a:solidFill>
                <a:latin typeface="Segoe UI"/>
              </a:defRPr>
            </a:pPr>
            <a:r>
              <a:t>Consent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9893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Consent store + encryption + gates on every channel. RBAC. No-persist parsing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C3D"/>
                </a:solidFill>
                <a:latin typeface="Segoe UI"/>
              </a:defRPr>
            </a:pPr>
            <a:r>
              <a:t>DATA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Dataset &amp; Key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96596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BC9C"/>
                </a:solidFill>
                <a:latin typeface="Segoe UI"/>
              </a:defRPr>
            </a:pPr>
            <a:r>
              <a:t>~80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Thalassemia Major</a:t>
            </a:r>
            <a:br/>
            <a:r>
              <a:t>Hyderabad region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554480"/>
            <a:ext cx="196596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BC9C"/>
                </a:solidFill>
                <a:latin typeface="Segoe UI"/>
              </a:defRPr>
            </a:pPr>
            <a:r>
              <a:t>~4,900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Donors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926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Registered blood</a:t>
            </a:r>
            <a:br/>
            <a:r>
              <a:t>donors in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554480"/>
            <a:ext cx="196596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BC9C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Donors/Slot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926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Primary + 7 backups</a:t>
            </a:r>
            <a:br/>
            <a:r>
              <a:t>per transfusion slot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554480"/>
            <a:ext cx="196596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BC9C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325"/>
                </a:solidFill>
                <a:latin typeface="Segoe UI"/>
              </a:defRPr>
            </a:pPr>
            <a:r>
              <a:t>Languages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926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F5F5"/>
                </a:solidFill>
                <a:latin typeface="Segoe UI"/>
              </a:defRPr>
            </a:pPr>
            <a:r>
              <a:t>EN, HI, TE, TA</a:t>
            </a:r>
            <a:br/>
            <a:r>
              <a:t>Full localization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DATASET SIGNALS USED FOR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BC9C"/>
                </a:solidFill>
                <a:latin typeface="Segoe UI"/>
              </a:defRPr>
            </a:pPr>
            <a:r>
              <a:t>blood_group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4805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5F5"/>
                </a:solidFill>
                <a:latin typeface="Segoe UI"/>
              </a:defRPr>
            </a:pPr>
            <a:r>
              <a:t>ABO + Rh type for compatibility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BC9C"/>
                </a:solidFill>
                <a:latin typeface="Segoe UI"/>
              </a:defRPr>
            </a:pPr>
            <a:r>
              <a:t>frequency_in_days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8006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5F5"/>
                </a:solidFill>
                <a:latin typeface="Segoe UI"/>
              </a:defRPr>
            </a:pPr>
            <a:r>
              <a:t>Patient's transfusion cadence (seed for EWMA)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BC9C"/>
                </a:solidFill>
                <a:latin typeface="Segoe UI"/>
              </a:defRPr>
            </a:pPr>
            <a:r>
              <a:t>calls_to_donations_ratio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1206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5F5"/>
                </a:solidFill>
                <a:latin typeface="Segoe UI"/>
              </a:defRPr>
            </a:pPr>
            <a:r>
              <a:t>Efficiency signal - fewer calls = more reliable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BC9C"/>
                </a:solidFill>
                <a:latin typeface="Segoe UI"/>
              </a:defRPr>
            </a:pPr>
            <a:r>
              <a:t>donations_till_date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4406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5F5"/>
                </a:solidFill>
                <a:latin typeface="Segoe UI"/>
              </a:defRPr>
            </a:pPr>
            <a:r>
              <a:t>Volume signal - proven repeat donors score higher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BC9C"/>
                </a:solidFill>
                <a:latin typeface="Segoe UI"/>
              </a:defRPr>
            </a:pPr>
            <a:r>
              <a:t>last_donation_date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7607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5F5"/>
                </a:solidFill>
                <a:latin typeface="Segoe UI"/>
              </a:defRPr>
            </a:pPr>
            <a:r>
              <a:t>Recency signal - recent donors rank higher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BC9C"/>
                </a:solidFill>
                <a:latin typeface="Segoe UI"/>
              </a:defRPr>
            </a:pPr>
            <a:r>
              <a:t>eligibility_status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60807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5F5"/>
                </a:solidFill>
                <a:latin typeface="Segoe UI"/>
              </a:defRPr>
            </a:pPr>
            <a:r>
              <a:t>Gate: only 'eligible' donors are matched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BC9C"/>
                </a:solidFill>
                <a:latin typeface="Segoe UI"/>
              </a:defRPr>
            </a:pPr>
            <a:r>
              <a:t>city_id / lat / lng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64008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5F5"/>
                </a:solidFill>
                <a:latin typeface="Segoe UI"/>
              </a:defRPr>
            </a:pPr>
            <a:r>
              <a:t>Geography: city scoping + haversine proximity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4864" cy="4114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BC9C"/>
                </a:solidFill>
                <a:latin typeface="Segoe UI"/>
              </a:defRPr>
            </a:pPr>
            <a:r>
              <a:t>PulseLink - The Blood Subscription for Thalassemia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Segoe UI"/>
              </a:defRPr>
            </a:pPr>
            <a:r>
              <a:t>Every transfusion predicted. Every donor ranked.</a:t>
            </a:r>
            <a:br/>
            <a:r>
              <a:t>Every call automated. Every patient reassured.</a:t>
            </a:r>
            <a:br/>
            <a:r>
              <a:t>Zero manual effort in the happy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325"/>
                </a:solidFill>
                <a:latin typeface="Segoe UI"/>
              </a:defRPr>
            </a:pPr>
            <a:r>
              <a:t>Live Demo: https://dpijq2esptlq8.cloudfront.net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325"/>
                </a:solidFill>
                <a:latin typeface="Segoe UI"/>
              </a:defRPr>
            </a:pPr>
            <a:r>
              <a:t>API Docs: https://d1u7u2ctmq6ryx.cloudfront.net/docs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126480"/>
            <a:ext cx="292608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1539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 for Good Hackathon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